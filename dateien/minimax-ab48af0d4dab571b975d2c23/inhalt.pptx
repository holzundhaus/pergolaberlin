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pergolaberlin/holzpergola-als-raumteiler-wege-sitzplatz-garten-zonieren/" TargetMode="External"/><Relationship Id="rId3" Type="http://schemas.openxmlformats.org/officeDocument/2006/relationships/hyperlink" Target="https://holzundhaus.github.io/pergolaberlin/dateien/minimax-ab48af0d4dab571b975d2c2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Holzpergola als Raumteiler: Wege, Sitzplatz und Garten zonieren · Erklärende Präsentation</a:t>
            </a:r>
          </a:p>
        </p:txBody>
      </p:sp>
      <p:sp>
        <p:nvSpPr>
          <p:cNvPr id="3" name="Content Placeholder 2"/>
          <p:cNvSpPr>
            <a:spLocks noGrp="1"/>
          </p:cNvSpPr>
          <p:nvPr>
            <p:ph idx="1"/>
          </p:nvPr>
        </p:nvSpPr>
        <p:spPr/>
        <p:txBody>
          <a:bodyPr/>
          <a:lstStyle/>
          <a:p>
            <a:r>
              <a:t>Überblick: Eine Holzpergola kann einen Garten gliedern, ohne ihn mit Wänden zu verschließen. Besonders hilfreich wird sie, wenn sie Wege, Sitzplätze und Blickachsen bewusst miteinander verbindet. Entscheidend sind dabei nicht nur Maße und Holzart, sondern auch die Lage auf dem Grundstück, die Gründung und die Einordnung im Baurecht. Dieser Beitrag zeigt, wie aus einer Pergola ein funktionaler Raumteiler wird und welche Fragen vor der Planung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typische Situationen einer Raumteiler-Pergola</a:t>
            </a:r>
          </a:p>
        </p:txBody>
      </p:sp>
      <p:sp>
        <p:nvSpPr>
          <p:cNvPr id="3" name="Content Placeholder 2"/>
          <p:cNvSpPr>
            <a:spLocks noGrp="1"/>
          </p:cNvSpPr>
          <p:nvPr>
            <p:ph idx="1"/>
          </p:nvPr>
        </p:nvSpPr>
        <p:spPr/>
        <p:txBody>
          <a:bodyPr/>
          <a:lstStyle/>
          <a:p>
            <a:pPr>
              <a:defRPr sz="1800"/>
            </a:pPr>
            <a:r>
              <a:t>Eine freistehende Holzpergola trennt zwei Gartenbereiche, ohne den Blick vollständig zu schließen. Sie kann einen Sitzplatz rahmen, als Rankhilfe dienen und lange Blickachsen unterbrechen. Weil keine Hauswand Lasten abnimmt, benötigt sie grundsätzlich eine allseitig tragfähige Gründung. Pergolas am Haus binden den Sitzplatz dagegen direkt an das Gebäude und schaffen einen geschützten Übergang zwischen Innenraum und Außenbereich. Hier müssen Wandanschluss, Sockelhöhe und die rechtliche Einordnung besonders sorgfältig geprüft werden. Eine Pergola am Terrassenrand wirkt wie eine Schwelle zum Garten. Sie markiert den Wechsel zwischen befestigtem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typische Situationen einer Raumteiler-Pergola</a:t>
            </a:r>
          </a:p>
        </p:txBody>
      </p:sp>
      <p:sp>
        <p:nvSpPr>
          <p:cNvPr id="3" name="Content Placeholder 2"/>
          <p:cNvSpPr>
            <a:spLocks noGrp="1"/>
          </p:cNvSpPr>
          <p:nvPr>
            <p:ph idx="1"/>
          </p:nvPr>
        </p:nvSpPr>
        <p:spPr/>
        <p:txBody>
          <a:bodyPr/>
          <a:lstStyle/>
          <a:p>
            <a:pPr>
              <a:defRPr sz="1800"/>
            </a:pPr>
            <a:r>
              <a:t>Sitzplatz und Rasen oder Beet und lässt sich sinnvoll mit einem Materialwechsel im Bodenbelag kombinieren.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Blickachsen, Höhe und Materialwechsel gestalterisch nutzen</a:t>
            </a:r>
          </a:p>
        </p:txBody>
      </p:sp>
      <p:sp>
        <p:nvSpPr>
          <p:cNvPr id="3" name="Content Placeholder 2"/>
          <p:cNvSpPr>
            <a:spLocks noGrp="1"/>
          </p:cNvSpPr>
          <p:nvPr>
            <p:ph idx="1"/>
          </p:nvPr>
        </p:nvSpPr>
        <p:spPr/>
        <p:txBody>
          <a:bodyPr/>
          <a:lstStyle/>
          <a:p>
            <a:pPr>
              <a:defRPr sz="1800"/>
            </a:pPr>
            <a:r>
              <a:t>Die Geometrie einer Pergola beeinflusst, wie der Garten wahrgenommen wird. Wer einen bestimmten Gartenbereich betonen möchte, kann die Längsachse auf diesen Punkt ausrichten. Gegen unerwünschte Einblicke können die Querhölzer gezielt davor stehen. Niedrigere Pergolen auf oder unter Augenhöhe gliedern den Außenbereich, bleiben aber durchlässig. Über Augenhöhe schaffen sie bereits einen deutlicheren Rahmen und verändern das Licht im Sitzplatz. Eine einheitliche Höhe wirkt ruhig; ein bewusster Höhenversatz kann unterschiedliche Zonen voneinander absetzen. Auch das Material ergänzt die Gestaltung: Unterschiedliche Holzarten, Oberflächen oder Quer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Blickachsen, Höhe und Materialwechsel gestalterisch nutzen</a:t>
            </a:r>
          </a:p>
        </p:txBody>
      </p:sp>
      <p:sp>
        <p:nvSpPr>
          <p:cNvPr id="3" name="Content Placeholder 2"/>
          <p:cNvSpPr>
            <a:spLocks noGrp="1"/>
          </p:cNvSpPr>
          <p:nvPr>
            <p:ph idx="1"/>
          </p:nvPr>
        </p:nvSpPr>
        <p:spPr/>
        <p:txBody>
          <a:bodyPr/>
          <a:lstStyle/>
          <a:p>
            <a:pPr>
              <a:defRPr sz="1800"/>
            </a:pPr>
            <a:r>
              <a:t>schnitte an Pfosten und Querbalken können zusätzlich gliedern. Bewitterung und Pflege müssen dabei mitgedacht werden, da sich unterschiedliche Hölzer unterschiedlich entwickeln.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Häufige Fehler bei der Zonierung</a:t>
            </a:r>
          </a:p>
        </p:txBody>
      </p:sp>
      <p:sp>
        <p:nvSpPr>
          <p:cNvPr id="3" name="Content Placeholder 2"/>
          <p:cNvSpPr>
            <a:spLocks noGrp="1"/>
          </p:cNvSpPr>
          <p:nvPr>
            <p:ph idx="1"/>
          </p:nvPr>
        </p:nvSpPr>
        <p:spPr/>
        <p:txBody>
          <a:bodyPr/>
          <a:lstStyle/>
          <a:p>
            <a:pPr>
              <a:defRPr sz="1800"/>
            </a:pPr>
            <a:r>
              <a:t>Problematisch ist eine Pergola, die mitten auf dem Rasen steht, obwohl sie weder einen Weg noch einen Sitzplatz tatsächlich fasst. Ebenso problematisch sind Pfostenabstände nach Standardmaßen, wenn die realen Durchgangsbreiten dadurch eingeschränkt werden. Die Höhe sollte zum fertigen Erscheinungsbild und zur Einordnung auf dem Grundstück passen, damit die Konstruktion nicht unbeabsichtigt dominant wirkt. Auch gestalterische Materialwechsel sind erst dann sinnvoll umzusetzen, wenn Holzschutz und Anschlussdetails geklärt sind. Wer sich grundsätzlich über Pergolabau und die ersten Planungsschritte informieren möchte, findet auf Pergolaberlin 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Häufige Fehler bei der Zonierung</a:t>
            </a:r>
          </a:p>
        </p:txBody>
      </p:sp>
      <p:sp>
        <p:nvSpPr>
          <p:cNvPr id="3" name="Content Placeholder 2"/>
          <p:cNvSpPr>
            <a:spLocks noGrp="1"/>
          </p:cNvSpPr>
          <p:nvPr>
            <p:ph idx="1"/>
          </p:nvPr>
        </p:nvSpPr>
        <p:spPr/>
        <p:txBody>
          <a:bodyPr/>
          <a:lstStyle/>
          <a:p>
            <a:pPr>
              <a:defRPr sz="1800"/>
            </a:pPr>
            <a:r>
              <a:t>e passende Anlaufstelle.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dem Bau geklärt sein muss</a:t>
            </a:r>
          </a:p>
        </p:txBody>
      </p:sp>
      <p:sp>
        <p:nvSpPr>
          <p:cNvPr id="3" name="Content Placeholder 2"/>
          <p:cNvSpPr>
            <a:spLocks noGrp="1"/>
          </p:cNvSpPr>
          <p:nvPr>
            <p:ph idx="1"/>
          </p:nvPr>
        </p:nvSpPr>
        <p:spPr/>
        <p:txBody>
          <a:bodyPr/>
          <a:lstStyle/>
          <a:p>
            <a:pPr>
              <a:defRPr sz="1800"/>
            </a:pPr>
            <a:r>
              <a:t>Vor der Bauplanung gehören Standort und Grenzabstände, Leitungen sowie die späteren Schattenflächen in die Überlegungen. Ebenso wichtig sind Befestigung und Gründung, weil eine freistehende Raumteiler-Pergola Lasten nicht einseitig an einem Haus abtragen kann. Außerdem muss die Einordnung im Baurecht geprüft werden: Offene Holzpergolen können je nach Lage, Höhe und Nutzung unterschiedlich behandelt werden. Schließlich beeinflussen Holzart und gewünschte Oberfläche nicht nur die Optik, sondern auch Pflegeaufwand und das spätere Alternden. Standort, Holz und Befestigung sollten deshalb als gemeinsame Entscheidung behandelt werden, damit die 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dem Bau geklärt sein muss</a:t>
            </a:r>
          </a:p>
        </p:txBody>
      </p:sp>
      <p:sp>
        <p:nvSpPr>
          <p:cNvPr id="3" name="Content Placeholder 2"/>
          <p:cNvSpPr>
            <a:spLocks noGrp="1"/>
          </p:cNvSpPr>
          <p:nvPr>
            <p:ph idx="1"/>
          </p:nvPr>
        </p:nvSpPr>
        <p:spPr/>
        <p:txBody>
          <a:bodyPr/>
          <a:lstStyle/>
          <a:p>
            <a:pPr>
              <a:defRPr sz="1800"/>
            </a:pPr>
            <a:r>
              <a:t>gola langfristig Wege, Sitzplatz und Garten sinnvoll ordnet.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Holzpergola als Raumteiler: Wege, Sitzplatz und Garten zonieren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