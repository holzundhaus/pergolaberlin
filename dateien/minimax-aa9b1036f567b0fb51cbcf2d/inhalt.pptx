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pergolaberlin/sturmfestigkeit-holzpergola-aussteifung-lastannahmen/" TargetMode="External"/><Relationship Id="rId3" Type="http://schemas.openxmlformats.org/officeDocument/2006/relationships/hyperlink" Target="https://holzundhaus.github.io/pergolaberlin/dateien/minimax-aa9b1036f567b0fb51cbcf2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Sturmfestigkeit der Holzpergola: Aussteifung, Lastannahmen und Standortfaktoren · Erklärende Präsentation</a:t>
            </a:r>
          </a:p>
        </p:txBody>
      </p:sp>
      <p:sp>
        <p:nvSpPr>
          <p:cNvPr id="3" name="Content Placeholder 2"/>
          <p:cNvSpPr>
            <a:spLocks noGrp="1"/>
          </p:cNvSpPr>
          <p:nvPr>
            <p:ph idx="1"/>
          </p:nvPr>
        </p:nvSpPr>
        <p:spPr/>
        <p:txBody>
          <a:bodyPr/>
          <a:lstStyle/>
          <a:p>
            <a:r>
              <a:t>Überblick: Eine offene Holzpergola wirkt leicht, wird aber zugleich von Eigengewicht, Wind, möglichen Nutzlasten und späteren Zubauten beansprucht. Entscheidend ist deshalb nicht nur ein stabiles Fundament, sondern auch ein nachvollziehbar ausgesteifter Holzaufbau. Der folgende Leitfaden zeigt, worauf bei Planung, Angebot und späterer Nutzung zu achten ist. Für den Zusammenhang zwischen Holzkonstruktion und Gründung bietet die Pergola-Fundamentseite ergänzende Hinweise; weiterführende Ratgeber können bei der Einordnung einzelner Bauteile helfen.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Lasten wirken auf eine offene Holzpergola?</a:t>
            </a:r>
          </a:p>
        </p:txBody>
      </p:sp>
      <p:sp>
        <p:nvSpPr>
          <p:cNvPr id="3" name="Content Placeholder 2"/>
          <p:cNvSpPr>
            <a:spLocks noGrp="1"/>
          </p:cNvSpPr>
          <p:nvPr>
            <p:ph idx="1"/>
          </p:nvPr>
        </p:nvSpPr>
        <p:spPr/>
        <p:txBody>
          <a:bodyPr/>
          <a:lstStyle/>
          <a:p>
            <a:pPr>
              <a:defRPr sz="1800"/>
            </a:pPr>
            <a:r>
              <a:t>Auf das offene Holzgerüst wirken mehrere Einwirkungen gleichzeitig. Das Eigengewicht von Holz, Verbindungen und späteren Anbauten belastet Pfosten und Gründung dauerhaft. Besonders relevant sind Windlasten: Staudruck, Sog und Böen wirken auf eine offene Konstruktion stärker, weil sie keine geschlossene Dachfläche besitzt. Nutzlasten entstehen durch zusätzliche Bauteile, schwere Rankpflanzen oder eine nachträglich angebrachte Stoffbespannung. Schneelasten sind zunächst bei einer nachträglich ergänzten Dachfläche oder dichten Bewuchsfläche zu berücksichtigen. Eine Pergola, die später ein Dach erhält, ist damit nicht mehr automatisch dasselbe 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Lasten wirken auf eine offene Holzpergola?</a:t>
            </a:r>
          </a:p>
        </p:txBody>
      </p:sp>
      <p:sp>
        <p:nvSpPr>
          <p:cNvPr id="3" name="Content Placeholder 2"/>
          <p:cNvSpPr>
            <a:spLocks noGrp="1"/>
          </p:cNvSpPr>
          <p:nvPr>
            <p:ph idx="1"/>
          </p:nvPr>
        </p:nvSpPr>
        <p:spPr/>
        <p:txBody>
          <a:bodyPr/>
          <a:lstStyle/>
          <a:p>
            <a:pPr>
              <a:defRPr sz="1800"/>
            </a:pPr>
            <a:r>
              <a:t>atische System wie ihre ursprüngliche Planung.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arbeiten Pfosten, Querhölzer und Verbindungen zusammen?</a:t>
            </a:r>
          </a:p>
        </p:txBody>
      </p:sp>
      <p:sp>
        <p:nvSpPr>
          <p:cNvPr id="3" name="Content Placeholder 2"/>
          <p:cNvSpPr>
            <a:spLocks noGrp="1"/>
          </p:cNvSpPr>
          <p:nvPr>
            <p:ph idx="1"/>
          </p:nvPr>
        </p:nvSpPr>
        <p:spPr/>
        <p:txBody>
          <a:bodyPr/>
          <a:lstStyle/>
          <a:p>
            <a:pPr>
              <a:defRPr sz="1800"/>
            </a:pPr>
            <a:r>
              <a:t>Aussteifung verhindert, dass horizontale Kräfte vor allem einzelne Pfosten verkippen. Eckpfosten, Verbände, Querhölzer, Pfetten und geeignete Verbindungsmittel sollen die Kräfte im räumlichen System verteilen und in die Gründung weiterleiten. Schrauben, Bolzen oder verdeckte Beschläge sind dabei nicht nur Konstruktionsdetails, sondern beeinflussen, ob die Hölzer tatsächlich als Gesamtsystem wirken. Mit zunehmender Spannweite können andere Balkenquerschnitte und Verbindungen erforderlich werden. Deshalb sollte ein Angebot nicht nur die sichtbaren Hölzer, sondern auch die vorgesehene Aussteifung, die Anzahl der Verbindungsmittel und deren Anord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arbeiten Pfosten, Querhölzer und Verbindungen zusammen?</a:t>
            </a:r>
          </a:p>
        </p:txBody>
      </p:sp>
      <p:sp>
        <p:nvSpPr>
          <p:cNvPr id="3" name="Content Placeholder 2"/>
          <p:cNvSpPr>
            <a:spLocks noGrp="1"/>
          </p:cNvSpPr>
          <p:nvPr>
            <p:ph idx="1"/>
          </p:nvPr>
        </p:nvSpPr>
        <p:spPr/>
        <p:txBody>
          <a:bodyPr/>
          <a:lstStyle/>
          <a:p>
            <a:pPr>
              <a:defRPr sz="1800"/>
            </a:pPr>
            <a:r>
              <a:t>nung erläutern. Ein kräftiges Fundament allein ersetzt diese durchdachte Aussteifung nicht.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Standortfaktoren verändern die Beanspruchung?</a:t>
            </a:r>
          </a:p>
        </p:txBody>
      </p:sp>
      <p:sp>
        <p:nvSpPr>
          <p:cNvPr id="3" name="Content Placeholder 2"/>
          <p:cNvSpPr>
            <a:spLocks noGrp="1"/>
          </p:cNvSpPr>
          <p:nvPr>
            <p:ph idx="1"/>
          </p:nvPr>
        </p:nvSpPr>
        <p:spPr/>
        <p:txBody>
          <a:bodyPr/>
          <a:lstStyle/>
          <a:p>
            <a:pPr>
              <a:defRPr sz="1800"/>
            </a:pPr>
            <a:r>
              <a:t>Derselbe Entwurf kann unterschiedlich beansprucht werden. Eine freistehende Pergola ist ohne Windschutz stärker ausgelastet als eine Construction zwischen geeigneten Gebäuden. In Berliner Hinterhöfen und Reihenhausgärten können sich zwischen Gebäuden besondere Sog- und Druckzonen bilden. Auch der Bewuchs verändert die Windangriffsfläche mit den Jahren erheblich; eine ohne Plants geplante Pergola ist mit dichtem Bewuchs nicht mehr gleichartig ausgelastet. Ebenso zählen Tragfähigkeit des Bodens, frostfreie Gründung und passende Pfostenträger zu den Voraussetzungen dafür, dass die Aussteifung im Holz ihre Funktion erfüllen kann. Diese Einflüsse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Standortfaktoren verändern die Beanspruchung?</a:t>
            </a:r>
          </a:p>
        </p:txBody>
      </p:sp>
      <p:sp>
        <p:nvSpPr>
          <p:cNvPr id="3" name="Content Placeholder 2"/>
          <p:cNvSpPr>
            <a:spLocks noGrp="1"/>
          </p:cNvSpPr>
          <p:nvPr>
            <p:ph idx="1"/>
          </p:nvPr>
        </p:nvSpPr>
        <p:spPr/>
        <p:txBody>
          <a:bodyPr/>
          <a:lstStyle/>
          <a:p>
            <a:pPr>
              <a:defRPr sz="1800"/>
            </a:pPr>
            <a:r>
              <a:t>sollten bei der Planung und bei einer späteren Änderung gemeinsam betrachtet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lässt sich eine sinnvolle Aussteifung prüfen?</a:t>
            </a:r>
          </a:p>
        </p:txBody>
      </p:sp>
      <p:sp>
        <p:nvSpPr>
          <p:cNvPr id="3" name="Content Placeholder 2"/>
          <p:cNvSpPr>
            <a:spLocks noGrp="1"/>
          </p:cNvSpPr>
          <p:nvPr>
            <p:ph idx="1"/>
          </p:nvPr>
        </p:nvSpPr>
        <p:spPr/>
        <p:txBody>
          <a:bodyPr/>
          <a:lstStyle/>
          <a:p>
            <a:pPr>
              <a:defRPr sz="1800"/>
            </a:pPr>
            <a:r>
              <a:t>Bereits in der Angebotsphase lassen sich mehrere Punkte nachfragen: Werden Position und Anzahl der Pfosten mit Spannweiten und Querhölzern begründet? Sind die Querschnitte von Pfosten, Balken und Querhölzern passend angegeben? Welche Verbindungsmittel werden wo und in welcher Anzahl eingesetzt? Und wird erläutert, wie horizontale Kräfte im Lastfall Wind abgetragen werden? Auch die vorgesehene Befestigung und ihre Voraussetzungen sollten verständlich erklärt werden. Wichtig ist außerdem, ob eine spätere Verdichtung durch Bewuchs, Stoffe oder eine Dachfläche vorgesehen ist. Ein allgemeiner Ratgeber kann Querschnitte, Pfostenabstände oder Verbin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lässt sich eine sinnvolle Aussteifung prüfen?</a:t>
            </a:r>
          </a:p>
        </p:txBody>
      </p:sp>
      <p:sp>
        <p:nvSpPr>
          <p:cNvPr id="3" name="Content Placeholder 2"/>
          <p:cNvSpPr>
            <a:spLocks noGrp="1"/>
          </p:cNvSpPr>
          <p:nvPr>
            <p:ph idx="1"/>
          </p:nvPr>
        </p:nvSpPr>
        <p:spPr/>
        <p:txBody>
          <a:bodyPr/>
          <a:lstStyle/>
          <a:p>
            <a:pPr>
              <a:defRPr sz="1800"/>
            </a:pPr>
            <a:r>
              <a:t>dungsmittel nicht pauschal festlegen. Diese gehören in die fachliche Planung für das konkrete Vorhaben.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Sturmfestigkeit der Holzpergola: Aussteifung, Lastannahmen und Standortfaktoren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