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pergolaberlin/holzpergola-enger-reihenhausgarten-hinterhof-berlin/" TargetMode="External"/><Relationship Id="rId3" Type="http://schemas.openxmlformats.org/officeDocument/2006/relationships/hyperlink" Target="https://holzundhaus.github.io/pergolaberlin/dateien/minimax-89b4e74ca75f190c50350c1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Holzpergola im engen Hinterhof oder Reihenhausgarten: Zufahrt, Pfostenabstand und Montage in Berlin · Erklärende Präsentation</a:t>
            </a:r>
          </a:p>
        </p:txBody>
      </p:sp>
      <p:sp>
        <p:nvSpPr>
          <p:cNvPr id="3" name="Content Placeholder 2"/>
          <p:cNvSpPr>
            <a:spLocks noGrp="1"/>
          </p:cNvSpPr>
          <p:nvPr>
            <p:ph idx="1"/>
          </p:nvPr>
        </p:nvSpPr>
        <p:spPr/>
        <p:txBody>
          <a:bodyPr/>
          <a:lstStyle/>
          <a:p>
            <a:r>
              <a:t>Überblick: Eine Holzpergola kann auch in einem engen Berliner Hinterhof, Reihenhausgarten oder Innenhof entstehen. Entscheidend ist nicht allein die gewünschte Größe, sondern das Zusammenspiel aus Zufahrt, Grundstücksmaßen, Untergrund und Montageweg. Der folgende Leitfaden strukturiert die Planung, damit Pfostenabstände, Spannweiten und die Reihenfolge des Aufbaus zum vorhandenen Raum passen. Für den Überblick zu Pergola-Grundlagen und weiteren Planungshinweisen steht die [Einstieg in das Thema Pergola](https://pergolaberlin.de) zur Verfügung.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drei typischen Ausgangslagen Berliner Grundstücke</a:t>
            </a:r>
          </a:p>
        </p:txBody>
      </p:sp>
      <p:sp>
        <p:nvSpPr>
          <p:cNvPr id="3" name="Content Placeholder 2"/>
          <p:cNvSpPr>
            <a:spLocks noGrp="1"/>
          </p:cNvSpPr>
          <p:nvPr>
            <p:ph idx="1"/>
          </p:nvPr>
        </p:nvSpPr>
        <p:spPr/>
        <p:txBody>
          <a:bodyPr/>
          <a:lstStyle/>
          <a:p>
            <a:pPr>
              <a:defRPr sz="1800"/>
            </a:pPr>
            <a:r>
              <a:t>Bei der Planung wird zunächst der tatsächlich nutzbare Bereich eingeordnet. Im Reihenhausgarten führt die Zufahrt häufig nur wenige Meter über einen Durchgang oder Torweg. Im Hinterhof ist der Bereich oft knapp, womöglich gemeinsam genutzt und von sensiblen Nachbarflächen umgeben. Ein schmaler Seitenstreifen oder Innenhof kann zusätzlich durch Lichtschächte, Wege, Grundstücksgrenzen und eine dichte Nachbarbebauung geprägt sein. Aus diesen unterschiedlichen Situationen folgen verschiedene Anforderungen an Stellfläche, Pfostenanordnung und Montage. Ein Standardraster lässt sich deshalb nicht allein aus einem Foto oder einer Wunschgröße ableiten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drei typischen Ausgangslagen Berliner Grundstücke</a:t>
            </a:r>
          </a:p>
        </p:txBody>
      </p:sp>
      <p:sp>
        <p:nvSpPr>
          <p:cNvPr id="3" name="Content Placeholder 2"/>
          <p:cNvSpPr>
            <a:spLocks noGrp="1"/>
          </p:cNvSpPr>
          <p:nvPr>
            <p:ph idx="1"/>
          </p:nvPr>
        </p:nvSpPr>
        <p:spPr/>
        <p:txBody>
          <a:bodyPr/>
          <a:lstStyle/>
          <a:p>
            <a:pPr>
              <a:defRPr sz="1800"/>
            </a:pPr>
            <a:r>
              <a:t>. Vor der eigentlichen Pergola-Planung sollten daher die realen Maße, vorhandenen Wege und die gewünschte Nutzung erfasst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Zufahrt und Transport vor dem Pfostenaufbau klären</a:t>
            </a:r>
          </a:p>
        </p:txBody>
      </p:sp>
      <p:sp>
        <p:nvSpPr>
          <p:cNvPr id="3" name="Content Placeholder 2"/>
          <p:cNvSpPr>
            <a:spLocks noGrp="1"/>
          </p:cNvSpPr>
          <p:nvPr>
            <p:ph idx="1"/>
          </p:nvPr>
        </p:nvSpPr>
        <p:spPr/>
        <p:txBody>
          <a:bodyPr/>
          <a:lstStyle/>
          <a:p>
            <a:pPr>
              <a:defRPr sz="1800"/>
            </a:pPr>
            <a:r>
              <a:t>Lange Pfosten und Balken passen nicht automatisch durch jede Zufahrt. Zu prüfen sind Durchgangsbreite, Höhe eines Torbogens, mögliche Kurvenradien sowie die Tragfähigkeit des befahrbaren Bereichs. Auch die Stellfläche für ein Lieferfahrzeug oder für einzelne Pakete muss berücksichtigt werden. Beim Transport durch enge Hinterhöfe können Pflaster, Beete und angrenzende Grundstücke beschädigt werden. Deshalb gehört der Transport- und Montageanteil von Anfang an in die Planung. Die [Grundlagen zur Pergola im Überblick](https://holzundhaus.github.io/pergolaberlin/holzpergola-enger-reihenhausgarten-hinterhof-berlin/) helfen dabei, diekonstruktiven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Zufahrt und Transport vor dem Pfostenaufbau klären</a:t>
            </a:r>
          </a:p>
        </p:txBody>
      </p:sp>
      <p:sp>
        <p:nvSpPr>
          <p:cNvPr id="3" name="Content Placeholder 2"/>
          <p:cNvSpPr>
            <a:spLocks noGrp="1"/>
          </p:cNvSpPr>
          <p:nvPr>
            <p:ph idx="1"/>
          </p:nvPr>
        </p:nvSpPr>
        <p:spPr/>
        <p:txBody>
          <a:bodyPr/>
          <a:lstStyle/>
          <a:p>
            <a:pPr>
              <a:defRPr sz="1800"/>
            </a:pPr>
            <a:r>
              <a:t>Anforderungen von den Zugangsfragen zu trennen: Erst wenn der Weg bis zum Stellplatz geklärt ist, lässt sich die spätere Montagereihenfolge realistisch festlegen.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Pfostenabstand und Spannweite aus den Platzverhältnissen ableiten</a:t>
            </a:r>
          </a:p>
        </p:txBody>
      </p:sp>
      <p:sp>
        <p:nvSpPr>
          <p:cNvPr id="3" name="Content Placeholder 2"/>
          <p:cNvSpPr>
            <a:spLocks noGrp="1"/>
          </p:cNvSpPr>
          <p:nvPr>
            <p:ph idx="1"/>
          </p:nvPr>
        </p:nvSpPr>
        <p:spPr/>
        <p:txBody>
          <a:bodyPr/>
          <a:lstStyle/>
          <a:p>
            <a:pPr>
              <a:defRPr sz="1800"/>
            </a:pPr>
            <a:r>
              <a:t>In einem engen Innenhof wird die Geometrie häufig durch Wege, Lichtschächte oder Grundstücksgrenzen bestimmt. Ein gewünschter Abstand zwischen den Pfosten kann deshalb verändert werden, ohne dass die gewünschte Breite gleich bleibt. Wird die Spannweite größer, benötigt die Konstruktion entsprechend andere Balken oder zusätzliche Pfosten. Auch die lichte Höhe ist relevant: Niedrige Erdgeschosse, gegenüberliegende Fenster oder Balkone beeinflussen Durchgang und Schattenwirkung. Die Maße jedes Feldes sollten einzeln beurteilt werden. Allgemeine Standardmaße helfen dabei nur begrenzt. Entscheidend sind die tatsächlichen Vor-Ort-Maße, der vorhande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Pfostenabstand und Spannweite aus den Platzverhältnissen ableiten</a:t>
            </a:r>
          </a:p>
        </p:txBody>
      </p:sp>
      <p:sp>
        <p:nvSpPr>
          <p:cNvPr id="3" name="Content Placeholder 2"/>
          <p:cNvSpPr>
            <a:spLocks noGrp="1"/>
          </p:cNvSpPr>
          <p:nvPr>
            <p:ph idx="1"/>
          </p:nvPr>
        </p:nvSpPr>
        <p:spPr/>
        <p:txBody>
          <a:bodyPr/>
          <a:lstStyle/>
          <a:p>
            <a:pPr>
              <a:defRPr sz="1800"/>
            </a:pPr>
            <a:r>
              <a:t>ne Untergrund und die Anforderungen an das Fundament. Ein verschobener Pfosten verändert nicht nur die Optik, sondern auch Spannweite, Laufwege und Anschluss an die umgebende Fläche.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Untergrund, Fundament und Befestigung frühzeitig berücksichtigen</a:t>
            </a:r>
          </a:p>
        </p:txBody>
      </p:sp>
      <p:sp>
        <p:nvSpPr>
          <p:cNvPr id="3" name="Content Placeholder 2"/>
          <p:cNvSpPr>
            <a:spLocks noGrp="1"/>
          </p:cNvSpPr>
          <p:nvPr>
            <p:ph idx="1"/>
          </p:nvPr>
        </p:nvSpPr>
        <p:spPr/>
        <p:txBody>
          <a:bodyPr/>
          <a:lstStyle/>
          <a:p>
            <a:pPr>
              <a:defRPr sz="1800"/>
            </a:pPr>
            <a:r>
              <a:t>Auf beengten Grundstücken bestehen häufig Mischbeläge aus Pflaster, Terrassenplatten, schmalen Rasenflächen oder alten Betonstreifen. Was unter der sichtbaren Oberfläche liegt, ist daraus nicht sicher erkennbar. Punktfundamente benötigen Platz für den Aushub und können auf Leitungen, Wurzeln oder nahe Grundstücksgrenzen treffen. Pfostenträger können das Holz vom feuchten Untergrund trennen und einen Wasserablauf ermöglichen. Sie sollten deshalb nicht als nachrangige Montagedetails behandelt werden. Aushub, Verankerung und die spätere Wiederherstellung der Beläge gehören in die Vorplanung. So lässt sich vermeiden, dass die Gründung erst auf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Untergrund, Fundament und Befestigung frühzeitig berücksichtigen</a:t>
            </a:r>
          </a:p>
        </p:txBody>
      </p:sp>
      <p:sp>
        <p:nvSpPr>
          <p:cNvPr id="3" name="Content Placeholder 2"/>
          <p:cNvSpPr>
            <a:spLocks noGrp="1"/>
          </p:cNvSpPr>
          <p:nvPr>
            <p:ph idx="1"/>
          </p:nvPr>
        </p:nvSpPr>
        <p:spPr/>
        <p:txBody>
          <a:bodyPr/>
          <a:lstStyle/>
          <a:p>
            <a:pPr>
              <a:defRPr sz="1800"/>
            </a:pPr>
            <a:r>
              <a:t>r Baustelle verändert wird und dadurch Wege, Abmessungen oder die Nutzung des Hofes aus dem ursprünglichen Konzept fallen.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Montage vom Zugang nach innen planen</a:t>
            </a:r>
          </a:p>
        </p:txBody>
      </p:sp>
      <p:sp>
        <p:nvSpPr>
          <p:cNvPr id="3" name="Content Placeholder 2"/>
          <p:cNvSpPr>
            <a:spLocks noGrp="1"/>
          </p:cNvSpPr>
          <p:nvPr>
            <p:ph idx="1"/>
          </p:nvPr>
        </p:nvSpPr>
        <p:spPr/>
        <p:txBody>
          <a:bodyPr/>
          <a:lstStyle/>
          <a:p>
            <a:pPr>
              <a:defRPr sz="1800"/>
            </a:pPr>
            <a:r>
              <a:t>Auf engem Raum kann die Reihenfolge über die Machbarkeit entscheiden. Eine nachvollziehbare Logik führt vom Zugang nach innen: Zunächst werden alle Materialien bis dicht an den späteren Stellplatz gebracht. Danach folgen Pfosten und Träger, soweit sie im Transportweg vorbereitet werden können. Schwere Querbalken werden erst eingehoben, wenn die Pfosten sicher stehen. Rankelemente, Beschattung und die Zugänglichkeit für Pflege werden erst nach der Hauptkonstruktion eingeplant. Im gemeinsam genutzten Hinterhof sollte außerdem geklärt werden, wer Aushub, Montage und Wiederherstellung übernimmt sowie wie lange Wege blockiert sind. Für eine aussag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Montage vom Zugang nach innen planen</a:t>
            </a:r>
          </a:p>
        </p:txBody>
      </p:sp>
      <p:sp>
        <p:nvSpPr>
          <p:cNvPr id="3" name="Content Placeholder 2"/>
          <p:cNvSpPr>
            <a:spLocks noGrp="1"/>
          </p:cNvSpPr>
          <p:nvPr>
            <p:ph idx="1"/>
          </p:nvPr>
        </p:nvSpPr>
        <p:spPr/>
        <p:txBody>
          <a:bodyPr/>
          <a:lstStyle/>
          <a:p>
            <a:pPr>
              <a:defRPr sz="1800"/>
            </a:pPr>
            <a:r>
              <a:t>ekräftige Anfrage helfen nutzbare Maße, Angaben zum Untergrund, die Beschreibung der Zufahrt sowie Hinweise zu Nachbargrenzen, Bewuchs und geplanter Nutzung. So kann die Planung konkret am Grundstück ansetzen, statt sich auf allgemeine Maße zu verlassen.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Holzpergola im engen Hinterhof oder Reihenhausgarten: Zufahrt, Pfostenabstand und Montage in Berlin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